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0" i="1">
                <a:solidFill>
                  <a:srgbClr val="555555"/>
                </a:solidFill>
                <a:latin typeface="Times New Roman"/>
              </a:rPr>
              <a:t>IE410 — Advanced Computer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4400" b="1" i="0">
                <a:solidFill>
                  <a:srgbClr val="1E2761"/>
                </a:solidFill>
                <a:latin typeface="Times New Roman"/>
              </a:rPr>
              <a:t>Diabetes Prediction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4400" b="1" i="0">
                <a:solidFill>
                  <a:srgbClr val="1E2761"/>
                </a:solidFill>
                <a:latin typeface="Times New Roman"/>
              </a:rPr>
              <a:t>Machine Learning on CDC BRFSS 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0" i="1" dirty="0">
                <a:solidFill>
                  <a:srgbClr val="555555"/>
                </a:solidFill>
                <a:latin typeface="Times New Roman"/>
              </a:rPr>
              <a:t>An End-to-End Study: EDA → Modeling → </a:t>
            </a:r>
            <a:r>
              <a:rPr sz="1800" b="0" i="1" dirty="0" err="1">
                <a:solidFill>
                  <a:srgbClr val="555555"/>
                </a:solidFill>
                <a:latin typeface="Times New Roman"/>
              </a:rPr>
              <a:t>Calibrati</a:t>
            </a:r>
            <a:r>
              <a:rPr lang="tr-TR" sz="1800" b="0" i="1" dirty="0">
                <a:solidFill>
                  <a:srgbClr val="555555"/>
                </a:solidFill>
                <a:latin typeface="Times New Roman"/>
              </a:rPr>
              <a:t>o</a:t>
            </a:r>
            <a:r>
              <a:rPr sz="1800" b="0" i="1" dirty="0">
                <a:solidFill>
                  <a:srgbClr val="555555"/>
                </a:solidFill>
                <a:latin typeface="Times New Roman"/>
              </a:rPr>
              <a:t>n → Explainability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5029200"/>
            <a:ext cx="2103120" cy="27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Times New Roman"/>
              </a:rPr>
              <a:t>İBRAHİM HAKKI KELEŞ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Student ID: 22050351013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Times New Roman"/>
              </a:rPr>
              <a:t>Yıldırım Beyazıt University ·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1.  Motivation &amp; Problem Definition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2.  Dataset Overview (BRFSS 2015)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3.  Exploratory Data Analysis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4.  Preprocessing Pipeline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5.  Methodology &amp; Evaluation Metrics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6.  Candidate Models (6 Algorithms)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7.  Study 2 — Model Screening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8.  Study 2 — Hyperparameter Tuning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9.  Study 3 — Default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4864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10. Class-Weight Balancing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11. SMOTE Resampling Comparison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12. ROC Curves — All Models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13. Threshold Optimization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14. Probability Calibration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15. SHAP — Explainable AI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16. Partial Dependence Plots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17. Conclusions &amp; Limitations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>
                <a:solidFill>
                  <a:srgbClr val="000000"/>
                </a:solidFill>
                <a:latin typeface="Times New Roman"/>
              </a:rPr>
              <a:t>•  18.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Motivation &amp;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Times New Roman"/>
              </a:rPr>
              <a:t>Why predict diabetes from low-cost survey indicators?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Diabetes is a leading chronic disease affecting hundreds of millions globally.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Early identification of at-risk individuals enables preventative intervention.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Clinical lab tests (HbA1c, fasting glucose) are accurate but expensive to scale.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Goal: use a free, self-reported survey to flag candidates for clinical follow-up.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54864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389120"/>
            <a:ext cx="5212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521208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Binary classification:
Diabetes_binary ∈ {0, 1} from 21 survey-based features (demographics, lifestyle, medical history).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297680"/>
            <a:ext cx="521208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4389120"/>
            <a:ext cx="49377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Success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709160"/>
            <a:ext cx="49377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High recall on the diabetic class without sacrificing AUC — false negatives are the costly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Dataset — CDC BRFSS 2015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1">
                <a:solidFill>
                  <a:srgbClr val="1E2761"/>
                </a:solidFill>
                <a:latin typeface="Times New Roman"/>
              </a:rPr>
              <a:t>Behavioral Risk Factor Surveillance System (CDC, 2015)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5176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6517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Times New Roman"/>
              </a:rPr>
              <a:t>253,680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Times New Roman"/>
              </a:rPr>
              <a:t>rows (respondents)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65176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6517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Times New Roman"/>
              </a:rPr>
              <a:t>21 + 1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14600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Times New Roman"/>
              </a:rPr>
              <a:t>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265176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26517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Times New Roman"/>
              </a:rPr>
              <a:t>13.9%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14600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Times New Roman"/>
              </a:rPr>
              <a:t>diabetic prevalence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828800"/>
            <a:ext cx="265176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920240"/>
            <a:ext cx="26517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Times New Roman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514600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Times New Roman"/>
              </a:rPr>
              <a:t>missing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Times New Roman"/>
              </a:rPr>
              <a:t>Feature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109728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Medical: HighBP, HighChol, Stroke, HeartDiseaseorAttack, CholCheck, DiffWalk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Lifestyle: BMI, Smoker, PhysActivity, Fruits, Veggies, HvyAlcoholConsump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Healthcare: AnyHealthcare, NoDocbcCost, GenHlth, MentHlth, PhysHlth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Demographics: Sex, Age, Education, Income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EDA — Class Imbalance &amp; Key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47548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Times New Roman"/>
              </a:rPr>
              <a:t>Major class imbalance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47548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Healthy ≈ 218,334 (86.1%)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Diabetic ≈  35,346 (13.9%)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Imbalance ratio ≈ 6.2 : 1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Accuracy is misleading — even a naive 'always healthy' model scores 86%.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Must use AUC, F1, recall on the diabetic class.</a:t>
            </a:r>
          </a:p>
        </p:txBody>
      </p:sp>
      <p:pic>
        <p:nvPicPr>
          <p:cNvPr id="6" name="Picture 5" descr="study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27975"/>
            <a:ext cx="6126480" cy="43506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Preprocessing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5486400" cy="2468880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5340096" cy="2377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X = df.drop('Diabetes_binary', axis=1)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y = df['Diabetes_binary']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X_train, X_test, y_train, y_test = train_test_split(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X, y, test_size=0.2, stratify=y, random_state=42)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scaler = StandardScaler()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X_train_scaled = scaler.fit_transform(X_train)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X_test_scaled  = scaler.transform(X_test)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Pipeline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Stratified 80/20 train-test split preserves class ratio.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StandardScaler fit on train only — no leakage into test set.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No missing values, no imputation required.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Categorical-ordinal features kept as integers (GenHlth, Education, …).</a:t>
            </a:r>
          </a:p>
        </p:txBody>
      </p:sp>
      <p:pic>
        <p:nvPicPr>
          <p:cNvPr id="8" name="Picture 7" descr="study1_correla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184" y="1280160"/>
            <a:ext cx="5394191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Methodology &amp;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Times New Roman"/>
              </a:rPr>
              <a:t>Cross-validation and metric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5-fold StratifiedKFold cross-validation on the 80% training partition.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Hyperparameter search: GridSearchCV for compact spaces, RandomizedSearchCV for larger ones.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Final evaluation on the held-out 20% test set, untouched until the end.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56616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Formula / Definition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Why we use 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(TP + TN) /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Reference only — misleading under imbalance.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TP / (TP + FP)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How clean are the positive predictions?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TP / (TP + FN)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Catch as many diabetics as possible.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F1-score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2·Precision·Recall / (Precision + Recall)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Balanced view when imbalance dominates.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ROC-AUC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Area under the TPR-FPR curve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Threshold-free ranking quality.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Brier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Mean squared error on probabilities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Times New Roman"/>
                        </a:rPr>
                        <a:t>Probability calibration quality.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Six Candidate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78480" y="4163089"/>
            <a:ext cx="6035040" cy="2148840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24784" y="4255623"/>
            <a:ext cx="5888736" cy="2743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candidates = {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'Logistic Regression':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LogisticRegression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max_iter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=1000),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'Decision Tree':      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DecisionTreeClassifier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(),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'Random Forest':      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RandomForestClassifier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                          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n_estimators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=100,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n_jobs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=-1),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'Gradient Boosting':  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GradientBoostingClassifier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                          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n_estimators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=100),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'SVM (RBF)':           SVC(kernel='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rbf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'),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'KNN (k=5)':          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KNeighborsClassifier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n_neighbors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=5),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297025"/>
            <a:ext cx="6035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 dirty="0">
                <a:solidFill>
                  <a:srgbClr val="1E2761"/>
                </a:solidFill>
                <a:latin typeface="Times New Roman"/>
              </a:rPr>
              <a:t>Selection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0" y="1833225"/>
            <a:ext cx="603504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</a:rPr>
              <a:t>•  Mix of linear, tree, kernel, and instance-based models.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</a:rPr>
              <a:t>•  Screened on 5,000-row sample for speed before tuning.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</a:rPr>
              <a:t>•  Top performers carried into </a:t>
            </a:r>
            <a:r>
              <a:rPr sz="1300" dirty="0" err="1">
                <a:solidFill>
                  <a:srgbClr val="000000"/>
                </a:solidFill>
                <a:latin typeface="Times New Roman"/>
              </a:rPr>
              <a:t>GridSearch</a:t>
            </a:r>
            <a:r>
              <a:rPr sz="1300" dirty="0">
                <a:solidFill>
                  <a:srgbClr val="000000"/>
                </a:solidFill>
                <a:latin typeface="Times New Roman"/>
              </a:rPr>
              <a:t> (30,000 rows).</a:t>
            </a:r>
          </a:p>
        </p:txBody>
      </p:sp>
      <p:pic>
        <p:nvPicPr>
          <p:cNvPr id="8" name="Picture 7" descr="study2_scre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870"/>
            <a:ext cx="7522828" cy="27914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Study 2 — Hyperparameter Tuning (GridSearchCV)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62468" y="3794760"/>
            <a:ext cx="5486400" cy="2651760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47104" y="3978812"/>
            <a:ext cx="5340096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dirty="0" err="1">
                <a:solidFill>
                  <a:srgbClr val="000000"/>
                </a:solidFill>
                <a:latin typeface="Consolas"/>
              </a:rPr>
              <a:t>cv_tune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StratifiedKFold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n_splits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=5, shuffle=True,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random_state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=42)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dirty="0" err="1">
                <a:solidFill>
                  <a:srgbClr val="000000"/>
                </a:solidFill>
                <a:latin typeface="Consolas"/>
              </a:rPr>
              <a:t>grid_rf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GridSearchCV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RandomForestClassifier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n_jobs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=-1),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{'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n_estimators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': [50, 100, 200],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 '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max_depth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':    [5, 10, 15],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 '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min_samples_split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': [2, 5]},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    cv=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cv_tune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, scoring='accuracy',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n_jobs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=-1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</a:pPr>
            <a:r>
              <a:rPr sz="1200" dirty="0" err="1">
                <a:solidFill>
                  <a:srgbClr val="000000"/>
                </a:solidFill>
                <a:latin typeface="Consolas"/>
              </a:rPr>
              <a:t>grid_rf.fit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X_tune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sz="1200" dirty="0" err="1">
                <a:solidFill>
                  <a:srgbClr val="000000"/>
                </a:solidFill>
                <a:latin typeface="Consolas"/>
              </a:rPr>
              <a:t>y_tune</a:t>
            </a:r>
            <a:r>
              <a:rPr sz="1200" dirty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21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 dirty="0">
                <a:solidFill>
                  <a:srgbClr val="1E2761"/>
                </a:solidFill>
                <a:latin typeface="Times New Roman"/>
              </a:rPr>
              <a:t>Top result (5-fold CV mean accuracy)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3834" y="4160520"/>
            <a:ext cx="5486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</a:rPr>
              <a:t>•  Logistic Regression: 0.8639  (C=0.01, l2)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</a:rPr>
              <a:t>•  Decision Tree:        0.8658  (</a:t>
            </a:r>
            <a:r>
              <a:rPr sz="1300" dirty="0" err="1">
                <a:solidFill>
                  <a:srgbClr val="000000"/>
                </a:solidFill>
                <a:latin typeface="Times New Roman"/>
              </a:rPr>
              <a:t>max_depth</a:t>
            </a:r>
            <a:r>
              <a:rPr sz="1300" dirty="0">
                <a:solidFill>
                  <a:srgbClr val="000000"/>
                </a:solidFill>
                <a:latin typeface="Times New Roman"/>
              </a:rPr>
              <a:t>=5)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</a:rPr>
              <a:t>•  Random Forest:        0.8657  (</a:t>
            </a:r>
            <a:r>
              <a:rPr sz="1300" dirty="0" err="1">
                <a:solidFill>
                  <a:srgbClr val="000000"/>
                </a:solidFill>
                <a:latin typeface="Times New Roman"/>
              </a:rPr>
              <a:t>max_depth</a:t>
            </a:r>
            <a:r>
              <a:rPr sz="1300" dirty="0">
                <a:solidFill>
                  <a:srgbClr val="000000"/>
                </a:solidFill>
                <a:latin typeface="Times New Roman"/>
              </a:rPr>
              <a:t>=10, n=200)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</a:rPr>
              <a:t>•  Differences are within ±0.002 — models tie on accuracy.</a:t>
            </a:r>
          </a:p>
        </p:txBody>
      </p:sp>
      <p:pic>
        <p:nvPicPr>
          <p:cNvPr id="8" name="Picture 7" descr="study2_fin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225" y="1235612"/>
            <a:ext cx="8037550" cy="2195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Study 3 — Default Baselines (no rebalancing)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5486400" cy="2651760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5340096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models = {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'LR': LogisticRegression(max_iter=1000),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'DT': DecisionTreeClassifier(max_depth=10),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'RF': RandomForestClassifier(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          n_estimators=100, n_jobs=-1),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for name, m in models.items():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m.fit(X_train_scaled, y_train)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y_pred = m.predict(X_test_scaled)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print(name, accuracy_score(y_test, y_pred))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Observation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5486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Accuracy ≈ 0.86 — looks great, but...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Recall on diabetic class ≈ 0.16 (LR), 0.18 (RF).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Models default to predicting 'healthy' — the imbalance bias.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Need class-rebalancing strategies.</a:t>
            </a:r>
          </a:p>
        </p:txBody>
      </p:sp>
      <p:pic>
        <p:nvPicPr>
          <p:cNvPr id="8" name="Picture 7" descr="study3_confusion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907" y="1820736"/>
            <a:ext cx="5394960" cy="15706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Class-Weight Balancing (cost-sensitive learning)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5486400" cy="2651760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5340096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cw = 'balanced'   # cost-sensitive weight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models_balanced = {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'LR': LogisticRegression(class_weight=cw),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'DT': DecisionTreeClassifier(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          class_weight=cw, max_depth=10),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'RF': RandomForestClassifier(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          class_weight=cw,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          n_estimators=100, n_jobs=-1),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Result after balancing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5486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LR recall  0.16 → 0.76   (F1: 0.24 → 0.44)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DT recall  0.33 → 0.79   (F1: 0.31 → 0.43)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RF recall barely moved — depth absorbs the weight.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Trade-off: accuracy drops from ~0.86 to ~0.73 (LR, DT).</a:t>
            </a:r>
          </a:p>
        </p:txBody>
      </p:sp>
      <p:pic>
        <p:nvPicPr>
          <p:cNvPr id="8" name="Picture 7" descr="study3_confusion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708" y="1820736"/>
            <a:ext cx="5394960" cy="15706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SMOTE — Synthetic Minority Oversampling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5486400" cy="2377440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5340096" cy="2286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from imblearn.over_sampling import SMOTE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# Apply SMOTE ONLY on training data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# — never touch the test set.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smote = SMOTE(random_state=42, k_neighbors=5)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X_tr_s, y_tr_s = smote.fit_resample(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X_train_scaled, y_train)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# Minority class now matches the majority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Comparison vs. class_weight='balanced'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54864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SMOTE produces synthetic minority samples in feature space.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Yielded similar recall/F1 to class-weight balancing.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Higher memory and training cost — train set ≈ doubled.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Risk: synthetic samples in noisy regions may hurt precision.</a:t>
            </a:r>
          </a:p>
        </p:txBody>
      </p:sp>
      <p:pic>
        <p:nvPicPr>
          <p:cNvPr id="8" name="Picture 7" descr="study3_smo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046" y="1583005"/>
            <a:ext cx="5394960" cy="17717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65516"/>
            <a:ext cx="10972800" cy="48628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 dirty="0">
                <a:solidFill>
                  <a:srgbClr val="1E2761"/>
                </a:solidFill>
                <a:latin typeface="Times New Roman"/>
              </a:rPr>
              <a:t>ROC Curves Default vs Balanced (all six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4572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Times New Roman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45720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LR balanced AUC ≈ 0.82 — best overall ranking.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RF balanced AUC ≈ 0.79 — close behind.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DT lags at AUC ≈ 0.61 (default) → 0.81 (balanced).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AUC is invariant to rebalancing for LR — only the threshold moves.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DT benefits most because the structure itself reshapes under weights.</a:t>
            </a:r>
          </a:p>
        </p:txBody>
      </p:sp>
      <p:pic>
        <p:nvPicPr>
          <p:cNvPr id="6" name="Picture 5" descr="study3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84305"/>
            <a:ext cx="6492240" cy="45294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65516"/>
            <a:ext cx="10972800" cy="48628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 dirty="0">
                <a:solidFill>
                  <a:srgbClr val="1E2761"/>
                </a:solidFill>
                <a:latin typeface="Times New Roman"/>
              </a:rPr>
              <a:t>Threshold Optimization Beyond the 0.5 Default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5486400" cy="2286000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5340096" cy="2194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fpr, tpr, thr = roc_curve(y_test, y_proba)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youden_idx = np.argmax(tpr - fpr)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best_thr = thr[youden_idx]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prec, rec, thr_pr = precision_recall_curve(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y_test, y_proba)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f1 = 2 * prec * rec / (prec + rec + 1e-9)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f1_max_idx = np.argmax(f1)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Strategies compared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Default 0.5 — favors majority class.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Youden's J = TPR − FPR — maximizes separation.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F1-max — best precision-recall trade-off.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Choice depends on clinical cost of FN vs FP.</a:t>
            </a:r>
          </a:p>
        </p:txBody>
      </p:sp>
      <p:pic>
        <p:nvPicPr>
          <p:cNvPr id="8" name="Picture 7" descr="study3_threshold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010623"/>
            <a:ext cx="5394960" cy="14768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Probability Calibration — Reliability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5486400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5340096" cy="2011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from sklearn.calibration import calibration_curve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from sklearn.metrics import brier_score_loss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prob_true, prob_pred = calibration_curve(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y_test, y_proba, n_bins=10, strategy='quantile')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brier = brier_score_loss(y_test, y_proba)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Why calibration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54864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A score is not a probability unless calibrated.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Clinical decisions need 'p(diabetic) = 0.30' to mean 30%.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LR is naturally well-calibrated; trees are over-confident.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Brier score quantifies calibration error.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Use CalibratedClassifierCV (sigmoid / isotonic) if needed.</a:t>
            </a:r>
          </a:p>
        </p:txBody>
      </p:sp>
      <p:pic>
        <p:nvPicPr>
          <p:cNvPr id="8" name="Picture 7" descr="study3_calibr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80192"/>
            <a:ext cx="5394960" cy="21376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SHAP — Explainable AI (Random Forest, Balanced)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5486400" cy="2194560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5340096" cy="2103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import shap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best_rf = balanced_results['RF (Balanced)']['model']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explainer = shap.TreeExplainer(best_rf)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shap_values = explainer.shap_values(X_test_sample)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shap.summary_plot(shap_values[1], X_test_sample,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00000"/>
                </a:solidFill>
                <a:latin typeface="Consolas"/>
              </a:rPr>
              <a:t>                  feature_names=feature_names)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Top global 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5486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GenHlth (self-reported general health) — strongest signal.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HighBP — clinical risk factor confirmed by the data.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BMI — higher BMI ⇒ higher predicted risk.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Age, HighChol, HeartDiseaseorAttack also dominant.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Direction (red / blue) matches medical intuition.</a:t>
            </a:r>
          </a:p>
        </p:txBody>
      </p:sp>
      <p:pic>
        <p:nvPicPr>
          <p:cNvPr id="8" name="Picture 7" descr="study3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633" y="1280160"/>
            <a:ext cx="4033292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Partial Dependence — Feature-Level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4572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Times New Roman"/>
              </a:rPr>
              <a:t>What PDPs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45720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1-D PDP shows the marginal effect of a single feature on predicted risk.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BMI: risk rises monotonically — clear dose-response.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Age: risk plateaus after middle age — saturation effect.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GenHlth (1=excellent → 5=poor): steep, near-linear increase.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2-D PDP for BMI × Age uncovers an interaction: high BMI worsens with age.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PDPs assume feature independence — interpret directional, not absolute.</a:t>
            </a:r>
          </a:p>
        </p:txBody>
      </p:sp>
      <p:pic>
        <p:nvPicPr>
          <p:cNvPr id="6" name="Picture 5" descr="study3_pdp_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48731"/>
            <a:ext cx="6492240" cy="4600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Times New Roman"/>
              </a:rPr>
              <a:t>Conclusions, 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3657600" cy="438912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Times New Roman"/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38328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Best model: LR / RF (Balanced), AUC ≈ 0.82.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Class balancing lifts recall 0.16 → 0.76.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GenHlth, HighBP, BMI dominate predictions.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Probability calibration is essential for clinical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80160"/>
            <a:ext cx="3657600" cy="438912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3657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Times New Roman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38328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Self-report bias — survey ≠ clinical truth.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Imbalance limits absolute precision.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Generalization beyond 2015 / U.S. not tested.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Times New Roman"/>
              </a:rPr>
              <a:t>•  No external validation cohort.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3657600" cy="438912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Times New Roman"/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383280" cy="137807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</a:rPr>
              <a:t>•  Add </a:t>
            </a:r>
            <a:r>
              <a:rPr sz="1300" dirty="0" err="1">
                <a:solidFill>
                  <a:srgbClr val="000000"/>
                </a:solidFill>
                <a:latin typeface="Times New Roman"/>
              </a:rPr>
              <a:t>LightGBM</a:t>
            </a:r>
            <a:r>
              <a:rPr sz="1300" dirty="0">
                <a:solidFill>
                  <a:srgbClr val="000000"/>
                </a:solidFill>
                <a:latin typeface="Times New Roman"/>
              </a:rPr>
              <a:t> tuned with focal loss.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</a:rPr>
              <a:t>•  Try cost-sensitive thresholding per subgroup.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</a:rPr>
              <a:t>•  Deploy as a screening triage tool with explanations.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dirty="0">
                <a:solidFill>
                  <a:srgbClr val="000000"/>
                </a:solidFill>
                <a:latin typeface="Times New Roman"/>
              </a:rPr>
              <a:t>•  Validate on newer BRFSS (2021+) waves.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97880"/>
            <a:ext cx="1124712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 i="0" dirty="0">
                <a:solidFill>
                  <a:srgbClr val="1E2761"/>
                </a:solidFill>
                <a:latin typeface="Times New Roman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Times New Roman"/>
              </a:rPr>
              <a:t>IE410 — Diabetes Prediction (BRFSS 2015) | İbrahim Hakkı Keleş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Times New Roman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2357</Words>
  <Application>Microsoft Office PowerPoint</Application>
  <PresentationFormat>Geniş ekran</PresentationFormat>
  <Paragraphs>285</Paragraphs>
  <Slides>18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Times New Roman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İBRAHİM HAKKI KELEŞ</cp:lastModifiedBy>
  <cp:revision>3</cp:revision>
  <dcterms:created xsi:type="dcterms:W3CDTF">2013-01-27T09:14:16Z</dcterms:created>
  <dcterms:modified xsi:type="dcterms:W3CDTF">2026-05-24T20:29:32Z</dcterms:modified>
  <cp:category/>
</cp:coreProperties>
</file>